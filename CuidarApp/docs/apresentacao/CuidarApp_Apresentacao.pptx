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5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1463040"/>
            <a:ext cx="5943600" cy="5943600"/>
          </a:xfrm>
          <a:prstGeom prst="ellipse">
            <a:avLst/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206240"/>
            <a:ext cx="3840480" cy="3840480"/>
          </a:xfrm>
          <a:prstGeom prst="ellipse">
            <a:avLst/>
          </a:prstGeom>
          <a:solidFill>
            <a:srgbClr val="8F7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868680" cy="868680"/>
          </a:xfrm>
          <a:prstGeom prst="roundRect">
            <a:avLst>
              <a:gd name="adj" fmla="val 2631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rt 4"/>
          <p:cNvSpPr/>
          <p:nvPr/>
        </p:nvSpPr>
        <p:spPr>
          <a:xfrm>
            <a:off x="1014984" y="1280160"/>
            <a:ext cx="484632" cy="438912"/>
          </a:xfrm>
          <a:prstGeom prst="heart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CuidarApp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Cuidado integral do idoso: remédios, alimentação, hidratação, exercícios e segurança em um só aplicativo.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720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EDE9FE"/>
                </a:solidFill>
                <a:latin typeface="Calibri"/>
              </a:rPr>
              <a:t>100% offline  •  Um aparelho, dois perfis  •  Baseado em evidências clínicas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EDE9FE"/>
                </a:solidFill>
                <a:latin typeface="Calibri"/>
              </a:rPr>
              <a:t>Apresentação de funcionalidades • Versão 1.4</a:t>
            </a:r>
          </a:p>
        </p:txBody>
      </p:sp>
      <p:pic>
        <p:nvPicPr>
          <p:cNvPr id="10" name="Picture 9" descr="01-in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85800"/>
            <a:ext cx="2610158" cy="5486400"/>
          </a:xfrm>
          <a:prstGeom prst="rect">
            <a:avLst/>
          </a:prstGeom>
        </p:spPr>
      </p:pic>
      <p:pic>
        <p:nvPicPr>
          <p:cNvPr id="11" name="Picture 10" descr="02-idoso-hoj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960120"/>
            <a:ext cx="234914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Calibri"/>
              </a:rPr>
              <a:t>O DESAFIO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O Brasil envelhece rápido e o cuidado é fragmentado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Dados reunidos na pesquisa "Monitoramento Nutricional e Exercício Físico na Saúde do Idoso".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257860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2578608" cy="109728"/>
          </a:xfrm>
          <a:prstGeom prst="roundRect">
            <a:avLst>
              <a:gd name="adj" fmla="val 41666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202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7C5CFC"/>
                </a:solidFill>
                <a:latin typeface="Calibri"/>
              </a:rPr>
              <a:t>15,8%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202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da população tem 60 anos ou mais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20299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32,1 milhões de pessoas (Censo IBGE 2022)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2240280"/>
            <a:ext cx="257860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01568" y="2240280"/>
            <a:ext cx="2578608" cy="109728"/>
          </a:xfrm>
          <a:prstGeom prst="roundRect">
            <a:avLst>
              <a:gd name="adj" fmla="val 41666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2606040"/>
            <a:ext cx="202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3B82F6"/>
                </a:solidFill>
                <a:latin typeface="Calibri"/>
              </a:rPr>
              <a:t>15–18%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3383280"/>
            <a:ext cx="202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dos idosos na comunidade têm sarcopenia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4160520"/>
            <a:ext cx="20299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Perda de massa e força muscular (EWGSOP2)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2240280"/>
            <a:ext cx="257860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63056" y="2240280"/>
            <a:ext cx="2578608" cy="109728"/>
          </a:xfrm>
          <a:prstGeom prst="roundRect">
            <a:avLst>
              <a:gd name="adj" fmla="val 41666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606040"/>
            <a:ext cx="202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10B981"/>
                </a:solidFill>
                <a:latin typeface="Calibri"/>
              </a:rPr>
              <a:t>40,9%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383280"/>
            <a:ext cx="202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são insuficientemente ativos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160520"/>
            <a:ext cx="20299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Sedentarismo eleva o risco de quedas (VIGITEL 2023)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2240280"/>
            <a:ext cx="257860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24544" y="2240280"/>
            <a:ext cx="2578608" cy="109728"/>
          </a:xfrm>
          <a:prstGeom prst="roundRect">
            <a:avLst>
              <a:gd name="adj" fmla="val 41666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2606040"/>
            <a:ext cx="202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59E0B"/>
                </a:solidFill>
                <a:latin typeface="Calibri"/>
              </a:rPr>
              <a:t>22–28%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3383280"/>
            <a:ext cx="202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estão em risco de desnutrição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4160520"/>
            <a:ext cx="20299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Idosos ambulatoriais (IBRANUTRI)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8888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749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5B3FD9"/>
                </a:solidFill>
                <a:latin typeface="Calibri"/>
              </a:rPr>
              <a:t>O problema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Apps existentes cuidam de uma parte só (remédio, caloria ou exercício), exigem internet e têm telas densas: a taxa de abandono passa de 70% entre usuários com mais de 65 anos.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CuidarApp • Cuidado integral do idoso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Calibri"/>
              </a:rPr>
              <a:t>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Um bloco de notas de cuidados, simples e interativo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O CuidarApp junta tudo o que importa na rotina do idoso em uma tela clara — e funciona sem internet.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60320"/>
            <a:ext cx="822960" cy="82296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0">
                <a:solidFill>
                  <a:srgbClr val="1F2937"/>
                </a:solidFill>
                <a:latin typeface="Calibri"/>
              </a:rPr>
              <a:t>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20299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7C5CFC"/>
                </a:solidFill>
                <a:latin typeface="Calibri"/>
              </a:rPr>
              <a:t>Um aparelho, dois perfis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20299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 idoso entra direto. O cuidador acessa com senha de 4 dígitos para cadastrar e acompanhar.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228600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75887" y="2560320"/>
            <a:ext cx="822960" cy="82296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7" y="25603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0">
                <a:solidFill>
                  <a:srgbClr val="1F2937"/>
                </a:solidFill>
                <a:latin typeface="Calibri"/>
              </a:rPr>
              <a:t>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3611880"/>
            <a:ext cx="20299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10B981"/>
                </a:solidFill>
                <a:latin typeface="Calibri"/>
              </a:rPr>
              <a:t>A tríade da saúde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4297680"/>
            <a:ext cx="20299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Proteína nas refeições, água ao longo do dia e exercício multicomponente, como recomendam ESPEN e OMS.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6" y="228600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37376" y="2560320"/>
            <a:ext cx="822960" cy="822960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5603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0">
                <a:solidFill>
                  <a:srgbClr val="1F2937"/>
                </a:solidFill>
                <a:latin typeface="Calibri"/>
              </a:rPr>
              <a:t>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3611880"/>
            <a:ext cx="20299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DC2626"/>
                </a:solidFill>
                <a:latin typeface="Calibri"/>
              </a:rPr>
              <a:t>Segurança e 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297680"/>
            <a:ext cx="20299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Botão de emergência sempre visível, registro de quedas e alerta de mal-estar após exercício.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2286000"/>
            <a:ext cx="2578608" cy="356616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98864" y="2560320"/>
            <a:ext cx="822960" cy="822960"/>
          </a:xfrm>
          <a:prstGeom prst="ellipse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25603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0">
                <a:solidFill>
                  <a:srgbClr val="1F2937"/>
                </a:solidFill>
                <a:latin typeface="Calibri"/>
              </a:rPr>
              <a:t>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3611880"/>
            <a:ext cx="202996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0284C7"/>
                </a:solidFill>
                <a:latin typeface="Calibri"/>
              </a:rPr>
              <a:t>Offline e privado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4297680"/>
            <a:ext cx="202996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Sem cadastro, sem nuvem. Os dados de saúde ficam somente no celular (Privacy by Design / LGPD).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CuidarApp • Cuidado integral do idoso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Calibri"/>
              </a:rPr>
              <a:t>ACESSO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Tela inicial: quem está usando?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Nome e foto de cada perfil (ícone quando não há foto). Nada de e-mail ou login online.</a:t>
            </a:r>
          </a:p>
        </p:txBody>
      </p:sp>
      <p:pic>
        <p:nvPicPr>
          <p:cNvPr id="5" name="Picture 4" descr="01-in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2066375" cy="4343400"/>
          </a:xfrm>
          <a:prstGeom prst="rect">
            <a:avLst/>
          </a:prstGeom>
        </p:spPr>
      </p:pic>
      <p:pic>
        <p:nvPicPr>
          <p:cNvPr id="6" name="Picture 5" descr="10-senha-cuidad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75" y="1920240"/>
            <a:ext cx="2066375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50070" y="1920240"/>
            <a:ext cx="600154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50070" y="1920240"/>
            <a:ext cx="82296" cy="786384"/>
          </a:xfrm>
          <a:prstGeom prst="roundRect">
            <a:avLst>
              <a:gd name="adj" fmla="val 4444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102" y="2039112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Idoso entra com um toque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102" y="2331720"/>
            <a:ext cx="559006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Vai direto para as tarefas do dia, sem senha para lembrar.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0070" y="2816352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50070" y="2816352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102" y="2935224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Cuidador protegido por senha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102" y="3227832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PIN de 4 dígitos (padrão 1234), guardado como hash SHA-256 e alterável nas configurações.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0070" y="3931920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50070" y="3931920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102" y="4050792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Celular do idoso ou do cuidador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102" y="4343400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Se o idoso não tem celular ou não consegue usar sozinho, o cuidador ativa o modo "celular do cuidador" e registra por ele.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50070" y="5047488"/>
            <a:ext cx="600154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50070" y="5047488"/>
            <a:ext cx="82296" cy="786384"/>
          </a:xfrm>
          <a:prstGeom prst="roundRect">
            <a:avLst>
              <a:gd name="adj" fmla="val 44444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102" y="5166360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Feito para funcionar offline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102" y="5458968"/>
            <a:ext cx="559006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Aviso na tela: os dados ficam somente neste aparelho.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CuidarApp • Cuidado integral do idoso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Calibri"/>
              </a:rPr>
              <a:t>PERFIL DO IDOSO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"Hoje": tudo o que importa em uma tela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Saudação pelo horário, data por extenso e um menu inferior simples: Hoje, Remédios, Exercícios, Comida e Humor.</a:t>
            </a:r>
          </a:p>
        </p:txBody>
      </p:sp>
      <p:pic>
        <p:nvPicPr>
          <p:cNvPr id="5" name="Picture 4" descr="02-idoso-ho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2066375" cy="4343400"/>
          </a:xfrm>
          <a:prstGeom prst="rect">
            <a:avLst/>
          </a:prstGeom>
        </p:spPr>
      </p:pic>
      <p:pic>
        <p:nvPicPr>
          <p:cNvPr id="6" name="Picture 5" descr="03-idoso-hoje-taref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75" y="1920240"/>
            <a:ext cx="2066375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50070" y="1920240"/>
            <a:ext cx="600154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50070" y="1920240"/>
            <a:ext cx="82296" cy="786384"/>
          </a:xfrm>
          <a:prstGeom prst="roundRect">
            <a:avLst>
              <a:gd name="adj" fmla="val 44444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102" y="2039112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Anel de progresso do 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102" y="2331720"/>
            <a:ext cx="559006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Mostra quanto da rotina já foi cumprida e quantas tarefas faltam.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0070" y="2816352"/>
            <a:ext cx="600154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50070" y="2816352"/>
            <a:ext cx="82296" cy="786384"/>
          </a:xfrm>
          <a:prstGeom prst="roundRect">
            <a:avLst>
              <a:gd name="adj" fmla="val 44444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102" y="2935224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Copos de água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102" y="3227832"/>
            <a:ext cx="559006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Um toque no + a cada copo. A meta diária é definida pelo cuidador.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0070" y="3712464"/>
            <a:ext cx="600154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50070" y="3712464"/>
            <a:ext cx="82296" cy="786384"/>
          </a:xfrm>
          <a:prstGeom prst="roundRect">
            <a:avLst>
              <a:gd name="adj" fmla="val 44444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102" y="3831336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"Como você está hoje?"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102" y="4123944"/>
            <a:ext cx="559006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Lembrete para o check-in de humor, que informa o cuidador.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50070" y="4608576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50070" y="4608576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102" y="4727448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Tarefas em ordem de horário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102" y="5020056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Remédios, exercícios e refeições com botão grande para marcar como feito. Concluídas vão para o fim da lista.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CuidarApp • Cuidado integral do idoso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Calibri"/>
              </a:rPr>
              <a:t>PERFIL DO IDOSO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Remédios e alimentação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O idoso vê o que tomar e o que comer hoje; o cuidador acompanha a adesão.</a:t>
            </a:r>
          </a:p>
        </p:txBody>
      </p:sp>
      <p:pic>
        <p:nvPicPr>
          <p:cNvPr id="5" name="Picture 4" descr="04-idoso-remed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2066375" cy="4343400"/>
          </a:xfrm>
          <a:prstGeom prst="rect">
            <a:avLst/>
          </a:prstGeom>
        </p:spPr>
      </p:pic>
      <p:pic>
        <p:nvPicPr>
          <p:cNvPr id="6" name="Picture 5" descr="07-idoso-aliment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75" y="1920240"/>
            <a:ext cx="2066375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50070" y="1920240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50070" y="1920240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102" y="2039112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Remédios do 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102" y="2331720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Nome, dose, horário e instruções ("tomar com água"). Frequência diária, dias úteis ou semanal.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0070" y="3035808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50070" y="3035808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102" y="3154680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Cardápio do 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102" y="3447288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 dieta semanal montada pelo cuidador aparece automaticamente, refeição por refeição.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0070" y="4151376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50070" y="4151376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102" y="4270248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Meta de proteína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102" y="4562856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Calculada pelo peso: 1,0 a 1,2 g/kg, ou 1,2 a 1,5 g/kg em idosos frágeis (ESPEN / PROT-AGE).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50070" y="5266944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50070" y="5266944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102" y="5385816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Hidratação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102" y="5678424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Dica para beber água mesmo sem sede: a hipodipsia senil aumenta riscos de confusão e infecção.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CuidarApp • Cuidado integral do idoso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Calibri"/>
              </a:rPr>
              <a:t>PERFIL DO IDOSO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Exercício multicomponente com segurança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Força, equilíbrio, marcha e flexibilidade — a combinação que reduz quedas em 23% a 34% (Cochrane).</a:t>
            </a:r>
          </a:p>
        </p:txBody>
      </p:sp>
      <p:pic>
        <p:nvPicPr>
          <p:cNvPr id="5" name="Picture 4" descr="05-idoso-exercic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2066375" cy="4343400"/>
          </a:xfrm>
          <a:prstGeom prst="rect">
            <a:avLst/>
          </a:prstGeom>
        </p:spPr>
      </p:pic>
      <p:pic>
        <p:nvPicPr>
          <p:cNvPr id="6" name="Picture 5" descr="06-feedback-exerci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75" y="1920240"/>
            <a:ext cx="2066375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50070" y="1920240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50070" y="1920240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102" y="2039112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Meta semanal visível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102" y="2331720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Dias ativos na semana em relação à meta de 3 a 5 vezes (OMS / Vivifrail).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0070" y="3035808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50070" y="3035808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102" y="3154680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Exercícios com tipo e instruções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102" y="3447288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Cada exercício mostra duração, horário, como fazer e a etiqueta do tipo.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0070" y="4151376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50070" y="4151376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102" y="4270248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"Como você se sentiu?"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102" y="4562856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Após marcar o exercício, o idoso responde em um toque. Tontura ou dor geram alerta para o cuidador.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50070" y="5266944"/>
            <a:ext cx="600154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50070" y="5266944"/>
            <a:ext cx="82296" cy="786384"/>
          </a:xfrm>
          <a:prstGeom prst="roundRect">
            <a:avLst>
              <a:gd name="adj" fmla="val 44444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102" y="5385816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Atalho para o SOS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102" y="5678424"/>
            <a:ext cx="559006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Se não estiver bem, o app oferece ligar imediatamente.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CuidarApp • Cuidado integral do idoso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Calibri"/>
              </a:rPr>
              <a:t>PERFIL DO IDOSO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Como estou e emergência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Saúde emocional e resposta rápida em caso de queda ou mal-estar.</a:t>
            </a:r>
          </a:p>
        </p:txBody>
      </p:sp>
      <p:pic>
        <p:nvPicPr>
          <p:cNvPr id="5" name="Picture 4" descr="08-idoso-como-est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2066375" cy="4343400"/>
          </a:xfrm>
          <a:prstGeom prst="rect">
            <a:avLst/>
          </a:prstGeom>
        </p:spPr>
      </p:pic>
      <p:pic>
        <p:nvPicPr>
          <p:cNvPr id="6" name="Picture 5" descr="09-emerg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75" y="1920240"/>
            <a:ext cx="2066375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50070" y="1920240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50070" y="1920240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102" y="2039112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Humor em 5 carinhas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102" y="2331720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Check-in diário simples. Humor baixo avisa o cuidador (sintomas depressivos caem 46,5% com acompanhamento).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0070" y="3035808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50070" y="3035808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102" y="3154680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Sintomas do dia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102" y="3447288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Dor, tontura, cansaço, falta de apetite, sono ruim ou sede, marcados com um toque.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0070" y="4151376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50070" y="4151376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102" y="4270248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"Tive uma queda"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102" y="4562856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Registra a queda, alerta o cuidador e, se for preciso, abre a tela de emergência.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50070" y="5266944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50070" y="5266944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102" y="5385816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SOS sempre à mão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102" y="5678424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Botão vermelho no topo de todas as telas do idoso: liga para o 192 ou direto para o cuidador.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CuidarApp • Cuidado integral do idoso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Calibri"/>
              </a:rPr>
              <a:t>PERFIL DO CUIDADOR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Painel do cuidador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Visão do dia em segundos: alertas, progresso de hoje e semana.</a:t>
            </a:r>
          </a:p>
        </p:txBody>
      </p:sp>
      <p:pic>
        <p:nvPicPr>
          <p:cNvPr id="5" name="Picture 4" descr="11-cuidador-pai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2066375" cy="4343400"/>
          </a:xfrm>
          <a:prstGeom prst="rect">
            <a:avLst/>
          </a:prstGeom>
        </p:spPr>
      </p:pic>
      <p:pic>
        <p:nvPicPr>
          <p:cNvPr id="6" name="Picture 5" descr="12-cuidador-progre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75" y="1920240"/>
            <a:ext cx="2066375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50070" y="1920240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50070" y="1920240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102" y="2039112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Alertas em destaque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102" y="2331720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Quedas, mal-estar no exercício e humor baixo aparecem no topo até serem marcados como vistos.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0070" y="3035808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50070" y="3035808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102" y="3154680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Menu por área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102" y="3447288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Painel, Remédios, Exercícios, Dieta e Visitas na barra inferior; configurações na engrenagem do topo.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0070" y="4151376"/>
            <a:ext cx="600154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50070" y="4151376"/>
            <a:ext cx="82296" cy="786384"/>
          </a:xfrm>
          <a:prstGeom prst="roundRect">
            <a:avLst>
              <a:gd name="adj" fmla="val 4444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102" y="4270248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Progresso de hoje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102" y="4562856"/>
            <a:ext cx="559006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Remédios, exercícios, refeições e água com barras de progresso.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50070" y="5047488"/>
            <a:ext cx="600154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50070" y="5047488"/>
            <a:ext cx="82296" cy="786384"/>
          </a:xfrm>
          <a:prstGeom prst="roundRect">
            <a:avLst>
              <a:gd name="adj" fmla="val 44444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102" y="5166360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Humor e sintomas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102" y="5458968"/>
            <a:ext cx="559006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 que o idoso relatou hoje, sem precisar perguntar.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CuidarApp • Cuidado integral do idoso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Calibri"/>
              </a:rPr>
              <a:t>PERFIL DO CUIDADOR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Acompanhamento semanal e metas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Monitoramento digital eleva a adesão terapêutica de 42,5% (papel) para 78,4%.</a:t>
            </a:r>
          </a:p>
        </p:txBody>
      </p:sp>
      <p:pic>
        <p:nvPicPr>
          <p:cNvPr id="5" name="Picture 4" descr="12-cuidador-progres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2066375" cy="4343400"/>
          </a:xfrm>
          <a:prstGeom prst="rect">
            <a:avLst/>
          </a:prstGeom>
        </p:spPr>
      </p:pic>
      <p:pic>
        <p:nvPicPr>
          <p:cNvPr id="6" name="Picture 5" descr="15-lista-exercic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75" y="1920240"/>
            <a:ext cx="2066375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50070" y="1920240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50070" y="1920240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102" y="2039112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Adesão dos últimos 7 dias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102" y="2331720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Gráfico por dia, com cores para dias bons, médios e fracos, e o humor de cada dia.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0070" y="3035808"/>
            <a:ext cx="600154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50070" y="3035808"/>
            <a:ext cx="82296" cy="786384"/>
          </a:xfrm>
          <a:prstGeom prst="roundRect">
            <a:avLst>
              <a:gd name="adj" fmla="val 44444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102" y="3154680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Indicadores-chave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102" y="3447288"/>
            <a:ext cx="559006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Adesão média, dias com exercício e média de copos de água por dia.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0070" y="3931920"/>
            <a:ext cx="600154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50070" y="3931920"/>
            <a:ext cx="82296" cy="786384"/>
          </a:xfrm>
          <a:prstGeom prst="roundRect">
            <a:avLst>
              <a:gd name="adj" fmla="val 44444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102" y="4050792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Meta de proteína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102" y="4343400"/>
            <a:ext cx="559006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Com o peso informado, o app mostra a meta diária em gramas.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50070" y="4828032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50070" y="4828032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102" y="4946904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Treino completo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102" y="5239512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 lista de exercícios indica quais tipos ainda faltam para um treino multicomponente.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CuidarApp • Cuidado integral do idoso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Calibri"/>
              </a:rPr>
              <a:t>PERFIL DO CUIDADOR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Cadastro rápido e guiado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Formulários curtos, com sugestões prontas e dicas baseadas nas diretrizes.</a:t>
            </a:r>
          </a:p>
        </p:txBody>
      </p:sp>
      <p:pic>
        <p:nvPicPr>
          <p:cNvPr id="5" name="Picture 4" descr="14-novo-exerci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2066375" cy="4343400"/>
          </a:xfrm>
          <a:prstGeom prst="rect">
            <a:avLst/>
          </a:prstGeom>
        </p:spPr>
      </p:pic>
      <p:pic>
        <p:nvPicPr>
          <p:cNvPr id="6" name="Picture 5" descr="16-die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75" y="1920240"/>
            <a:ext cx="2066375" cy="4343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550070" y="1920240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550070" y="1920240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102" y="2039112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Sugestões de exercícios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102" y="2331720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Seis exercícios do programa Vivifrail prontos para usar: um toque preenche o formulário.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50070" y="3035808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50070" y="3035808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102" y="3154680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Dias da semana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102" y="3447288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Escolha os dias de cada exercício; o app recomenda de 3 a 5 vezes por semana.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50070" y="4151376"/>
            <a:ext cx="6001545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50070" y="4151376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102" y="4270248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Dieta da semana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102" y="4562856"/>
            <a:ext cx="559006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Café, almoço, lanche e jantar por dia, salvos automaticamente, com opção de copiar o cardápio para a semana toda.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50070" y="5266944"/>
            <a:ext cx="600154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50070" y="5266944"/>
            <a:ext cx="82296" cy="786384"/>
          </a:xfrm>
          <a:prstGeom prst="roundRect">
            <a:avLst>
              <a:gd name="adj" fmla="val 44444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102" y="5385816"/>
            <a:ext cx="559006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Lembrete de proteína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102" y="5678424"/>
            <a:ext cx="559006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Exemplos de alimentos proteicos e meta diária junto da dieta.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CuidarApp • Cuidado integral do idoso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Calibri"/>
              </a:rPr>
              <a:t>CONFIGURAÇÕES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Personalização e acessibilidade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Tudo ajustável pelo cuidador, sem internet.</a:t>
            </a:r>
          </a:p>
        </p:txBody>
      </p:sp>
      <p:pic>
        <p:nvPicPr>
          <p:cNvPr id="5" name="Picture 4" descr="17-configura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2066375" cy="4343400"/>
          </a:xfrm>
          <a:prstGeom prst="rect">
            <a:avLst/>
          </a:prstGeom>
        </p:spPr>
      </p:pic>
      <p:pic>
        <p:nvPicPr>
          <p:cNvPr id="6" name="Picture 5" descr="18-configuracoes-sa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775" y="1920240"/>
            <a:ext cx="2066375" cy="4343400"/>
          </a:xfrm>
          <a:prstGeom prst="rect">
            <a:avLst/>
          </a:prstGeom>
        </p:spPr>
      </p:pic>
      <p:pic>
        <p:nvPicPr>
          <p:cNvPr id="7" name="Picture 6" descr="20-alto-contras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470" y="1920240"/>
            <a:ext cx="2066375" cy="4343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90765" y="1920240"/>
            <a:ext cx="366085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90765" y="1920240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46797" y="2039112"/>
            <a:ext cx="3249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Perfis com nome e foto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6797" y="2331720"/>
            <a:ext cx="3249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Foto escolhida da galeria, recortada e guardada no aparelho.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90765" y="3035808"/>
            <a:ext cx="366085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90765" y="3035808"/>
            <a:ext cx="82296" cy="786384"/>
          </a:xfrm>
          <a:prstGeom prst="roundRect">
            <a:avLst>
              <a:gd name="adj" fmla="val 44444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46797" y="3154680"/>
            <a:ext cx="3249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Saúde do idoso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6797" y="3447288"/>
            <a:ext cx="324937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Peso, fragilidade e meta de água.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90765" y="3931920"/>
            <a:ext cx="366085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90765" y="3931920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6797" y="4050792"/>
            <a:ext cx="3249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Contatos de 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6797" y="4343400"/>
            <a:ext cx="3249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Número de emergência e telefone do cuidador.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90765" y="5047488"/>
            <a:ext cx="366085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90765" y="5047488"/>
            <a:ext cx="82296" cy="1005840"/>
          </a:xfrm>
          <a:prstGeom prst="roundRect">
            <a:avLst>
              <a:gd name="adj" fmla="val 44444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46797" y="5166360"/>
            <a:ext cx="32493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F2937"/>
                </a:solidFill>
                <a:latin typeface="Calibri"/>
              </a:rPr>
              <a:t>Acessibilidade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6797" y="5458968"/>
            <a:ext cx="324937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Fonte de 80% a 150%, alto contraste e animações que podem ser desligadas.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CuidarApp • Cuidado integral do idoso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Calibri"/>
              </a:rPr>
              <a:t>NESTA VERSÃO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Melhorias feitas a partir da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Cada recomendação clínica virou uma funcionalidade concreta no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411480"/>
          </a:xfrm>
          <a:prstGeom prst="roundRect">
            <a:avLst>
              <a:gd name="adj" fmla="val 17777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Evidência da pesquisa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205740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Melhoria no CuidarApp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Hipodipsia: idosos sentem menos sede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252374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Contador de copos de água com meta diária e dica de hidratação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8036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809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Proteína: 1,0–1,5 g/kg/dia (ESPEN, PROT-AGE)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98094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Meta de proteína calculada pelo peso e fragilidade; refeições do dia com marcação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381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Treino multicomponente 3–5x/semana (Vivifrail)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43814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Exercícios por tipo e dias da semana, sugestões prontas e meta semanal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9476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953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Risco de queda e tontura no exercício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389534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Pergunta pós-exercício, botão "Tive uma queda" e alertas para o cuidador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5196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3525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Saúde afetiva (GDS-15)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435254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Check-in diário de humor e sintomas, com histórico da semana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0916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097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Adesão sobe com monitoramento 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480974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Relatório de adesão dos últimos 7 dias no painel do cuidador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6636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2669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Barreira cognitiva e visual (MOLD-US)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526694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Alto contraste, fonte ampliável, botões grandes e modais simples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623560"/>
            <a:ext cx="10881360" cy="420624"/>
          </a:xfrm>
          <a:prstGeom prst="roundRect">
            <a:avLst>
              <a:gd name="adj" fmla="val 1304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7241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2937"/>
                </a:solidFill>
                <a:latin typeface="Calibri"/>
              </a:rPr>
              <a:t>Segurança e LGPD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572414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Calibri"/>
              </a:rPr>
              <a:t>Senha guardada como hash e todos os dados apenas no aparelho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8076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Também corrigido: menu inferior funcional e sem duplicidades, edição de nomes, senha e telefones, check-in de humor, botão voltar do Android e visual com bordas mais leves.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CuidarApp • Cuidado integral do idoso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Calibri"/>
              </a:rPr>
              <a:t>BENEFÍCIOS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Por que o CuidarApp faz diferença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3520440" cy="4343400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Para o idoso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272491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7" y="265176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Mais autonomia: sabe o que fazer a cada hora do dia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354787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347472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Menos esquecimentos de remédios, água e refeições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437083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07007" y="429768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Segurança: SOS e registro de queda a um toque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5193792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7" y="512064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Tela simples, letras grandes e alto contraste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691640"/>
            <a:ext cx="3520440" cy="4343400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5968" y="1691640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184708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7C5CFC"/>
                </a:solidFill>
                <a:latin typeface="Calibri"/>
              </a:rPr>
              <a:t>Para o cuidador</a:t>
            </a:r>
          </a:p>
        </p:txBody>
      </p:sp>
      <p:sp>
        <p:nvSpPr>
          <p:cNvPr id="18" name="Oval 17"/>
          <p:cNvSpPr/>
          <p:nvPr/>
        </p:nvSpPr>
        <p:spPr>
          <a:xfrm>
            <a:off x="4608576" y="2724912"/>
            <a:ext cx="146304" cy="146304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82896" y="265176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Acompanha a rotina sem precisar perguntar tudo</a:t>
            </a:r>
          </a:p>
        </p:txBody>
      </p:sp>
      <p:sp>
        <p:nvSpPr>
          <p:cNvPr id="20" name="Oval 19"/>
          <p:cNvSpPr/>
          <p:nvPr/>
        </p:nvSpPr>
        <p:spPr>
          <a:xfrm>
            <a:off x="4608576" y="3547872"/>
            <a:ext cx="146304" cy="146304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347472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Alertas de queda, mal-estar e humor baixo</a:t>
            </a:r>
          </a:p>
        </p:txBody>
      </p:sp>
      <p:sp>
        <p:nvSpPr>
          <p:cNvPr id="22" name="Oval 21"/>
          <p:cNvSpPr/>
          <p:nvPr/>
        </p:nvSpPr>
        <p:spPr>
          <a:xfrm>
            <a:off x="4608576" y="4370832"/>
            <a:ext cx="146304" cy="146304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82896" y="429768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Relatório semanal pronto para levar à consulta</a:t>
            </a:r>
          </a:p>
        </p:txBody>
      </p:sp>
      <p:sp>
        <p:nvSpPr>
          <p:cNvPr id="24" name="Oval 23"/>
          <p:cNvSpPr/>
          <p:nvPr/>
        </p:nvSpPr>
        <p:spPr>
          <a:xfrm>
            <a:off x="4608576" y="5193792"/>
            <a:ext cx="146304" cy="146304"/>
          </a:xfrm>
          <a:prstGeom prst="ellipse">
            <a:avLst/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82896" y="512064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Cadastro rápido com sugestões baseadas em diretrizes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1691640"/>
            <a:ext cx="3520440" cy="4343400"/>
          </a:xfrm>
          <a:prstGeom prst="roundRect">
            <a:avLst>
              <a:gd name="adj" fmla="val 311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991856" y="1691640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E8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6" y="184708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Para a saúde</a:t>
            </a:r>
          </a:p>
        </p:txBody>
      </p:sp>
      <p:sp>
        <p:nvSpPr>
          <p:cNvPr id="29" name="Oval 28"/>
          <p:cNvSpPr/>
          <p:nvPr/>
        </p:nvSpPr>
        <p:spPr>
          <a:xfrm>
            <a:off x="8284464" y="2724912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58784" y="265176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Nutrição + exercício guiado: força de preensão +24,8%</a:t>
            </a:r>
          </a:p>
        </p:txBody>
      </p:sp>
      <p:sp>
        <p:nvSpPr>
          <p:cNvPr id="31" name="Oval 30"/>
          <p:cNvSpPr/>
          <p:nvPr/>
        </p:nvSpPr>
        <p:spPr>
          <a:xfrm>
            <a:off x="8284464" y="3547872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58784" y="347472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Velocidade de marcha +19,6%</a:t>
            </a:r>
          </a:p>
        </p:txBody>
      </p:sp>
      <p:sp>
        <p:nvSpPr>
          <p:cNvPr id="33" name="Oval 32"/>
          <p:cNvSpPr/>
          <p:nvPr/>
        </p:nvSpPr>
        <p:spPr>
          <a:xfrm>
            <a:off x="8284464" y="4370832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58784" y="429768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Quedas até 34% menores com protocolo multicomponente</a:t>
            </a:r>
          </a:p>
        </p:txBody>
      </p:sp>
      <p:sp>
        <p:nvSpPr>
          <p:cNvPr id="35" name="Oval 34"/>
          <p:cNvSpPr/>
          <p:nvPr/>
        </p:nvSpPr>
        <p:spPr>
          <a:xfrm>
            <a:off x="8284464" y="5193792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58784" y="5120640"/>
            <a:ext cx="2697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Adesão de 78,4% com monitoramento digital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Indicadores clínicos: meta-análise com 1.420 idosos após 24 semanas (Tieland et al., 2012; Sherrington et al., 2019; Izquierdo et al., 2019).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CuidarApp • Cuidado integral do idoso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Calibri"/>
              </a:rPr>
              <a:t>DIFERENCIAIS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Comparativo com aplicativos semelhantes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911095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911095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Nutrição e água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4064" y="1911095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Exercício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93407" y="1911095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Remédios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02752" y="1911095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Offline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12096" y="1911095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6B7280"/>
                </a:solidFill>
                <a:latin typeface="Calibri"/>
              </a:rPr>
              <a:t>Foco no idoso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2316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51176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Vivifrail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55117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4064" y="255117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7" y="255117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55117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12096" y="255117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63239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91256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MyFitnessPal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19125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319125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7" y="319125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19125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12096" y="319125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0332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831335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Medisafe / CareZone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831335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4064" y="3831335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3407" y="3831335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3831335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12096" y="3831335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34340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471416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F2937"/>
                </a:solidFill>
                <a:latin typeface="Calibri"/>
              </a:rPr>
              <a:t>Meu SUS Digital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447141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84064" y="447141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3407" y="447141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447141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12096" y="447141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7C5CFC"/>
                </a:solidFill>
                <a:latin typeface="Calibri"/>
              </a:rPr>
              <a:t>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98348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7C5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111496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CuidarApp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11149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4064" y="511149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3407" y="511149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511149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12096" y="5111496"/>
            <a:ext cx="160934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● completo   ◐ parcial   — ausente.  Fonte: benchmarking da pesquisa (Wildenbos et al.; Izquierdo et al.).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CuidarApp • Cuidado integral do idoso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7C5CFC"/>
                </a:solidFill>
                <a:latin typeface="Calibri"/>
              </a:rPr>
              <a:t>PRIVACIDADE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1F2937"/>
                </a:solidFill>
                <a:latin typeface="Calibri"/>
              </a:rPr>
              <a:t>Dados de saúde protegidos por padrão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Calibri"/>
              </a:rPr>
              <a:t>Registros de alimentação, hidratação e mobilidade são dados sensíveis (LGPD, Lei nº 13.709/2018, Art. 11).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5349240" cy="16459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60320"/>
            <a:ext cx="502920" cy="502920"/>
          </a:xfrm>
          <a:prstGeom prst="ellipse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42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Nada vai para a internet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97180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 app não pede permissão de internet. Tudo é gravado no armazenamento interno do aparelho.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240280"/>
            <a:ext cx="5349240" cy="16459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560320"/>
            <a:ext cx="502920" cy="502920"/>
          </a:xfrm>
          <a:prstGeom prst="ellipse">
            <a:avLst/>
          </a:prstGeom>
          <a:solidFill>
            <a:srgbClr val="E8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5603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3B82F6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542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Sem cadastro, sem conta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97180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Não há e-mail, CPF ou login online. Só nomes e, se quiser, uma foto.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114800"/>
            <a:ext cx="5349240" cy="16459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434840"/>
            <a:ext cx="502920" cy="50292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7C5CFC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1655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Área do cuidador protegida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84632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Senha de 4 dígitos guardada como hash (SHA-256), nunca em texto puro.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114800"/>
            <a:ext cx="5349240" cy="164592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434840"/>
            <a:ext cx="502920" cy="502920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4348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DC2626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441655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F2937"/>
                </a:solidFill>
                <a:latin typeface="Calibri"/>
              </a:rPr>
              <a:t>Controle total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84632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 cuidador pode apagar todos os dados a qualquer momento nas configurações.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CuidarApp • Cuidado integral do idoso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5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4572000" cy="4572000"/>
          </a:xfrm>
          <a:prstGeom prst="ellipse">
            <a:avLst/>
          </a:prstGeom>
          <a:solidFill>
            <a:srgbClr val="5B3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645920"/>
            <a:ext cx="4572000" cy="4572000"/>
          </a:xfrm>
          <a:prstGeom prst="ellipse">
            <a:avLst/>
          </a:prstGeom>
          <a:solidFill>
            <a:srgbClr val="8F7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6858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Como começar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1. Instale o APK no celular Android (versão 8.0 ou superior).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2. Toque em "Cuidador" e entre com a senha 1234.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3. Em Configurações, defina nomes, fotos, peso, telefones e troque a senha.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4. Cadastre remédios, exercícios sugeridos, dieta e visitas.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5. Entregue o celular ao idoso: ele entra com um toque.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CuidarApp — cuidar bem, todos os dias.</a:t>
            </a:r>
          </a:p>
        </p:txBody>
      </p:sp>
      <p:pic>
        <p:nvPicPr>
          <p:cNvPr id="7" name="Picture 6" descr="11-cuidador-pai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822960"/>
            <a:ext cx="2523153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